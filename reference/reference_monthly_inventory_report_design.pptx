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976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Entries</c:v>
                </c:pt>
              </c:strCache>
            </c:strRef>
          </c:tx>
          <c:spPr>
            <a:solidFill>
              <a:schemeClr val="accent3">
                <a:lumMod val="40000"/>
                <a:lumOff val="60000"/>
                <a:alpha val="15000"/>
              </a:schemeClr>
            </a:solidFill>
            <a:ln w="33020">
              <a:solidFill>
                <a:schemeClr val="accent3">
                  <a:lumMod val="75000"/>
                </a:schemeClr>
              </a:solidFill>
            </a:ln>
            <a:effectLst>
              <a:glow>
                <a:schemeClr val="accent1"/>
              </a:glow>
              <a:outerShdw blurRad="50800" dist="50800" algn="ctr" rotWithShape="0">
                <a:srgbClr val="000000">
                  <a:alpha val="43137"/>
                </a:srgbClr>
              </a:outerShdw>
              <a:softEdge rad="0"/>
            </a:effectLst>
          </c:spPr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Jun 2025</c:v>
                </c:pt>
                <c:pt idx="1">
                  <c:v>Jul 2025</c:v>
                </c:pt>
                <c:pt idx="2">
                  <c:v>Aug 2025</c:v>
                </c:pt>
                <c:pt idx="3">
                  <c:v>Sep 2025</c:v>
                </c:pt>
                <c:pt idx="4">
                  <c:v>Oct 2025</c:v>
                </c:pt>
                <c:pt idx="5">
                  <c:v>Nov 2025</c:v>
                </c:pt>
                <c:pt idx="6">
                  <c:v>Dec 2025</c:v>
                </c:pt>
                <c:pt idx="7">
                  <c:v>Jan 2026</c:v>
                </c:pt>
                <c:pt idx="8">
                  <c:v>Feb 2026</c:v>
                </c:pt>
                <c:pt idx="9">
                  <c:v>Mar 2026</c:v>
                </c:pt>
                <c:pt idx="10">
                  <c:v>Apr 2026</c:v>
                </c:pt>
                <c:pt idx="11">
                  <c:v>May 2026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</c:v>
                </c:pt>
                <c:pt idx="1">
                  <c:v>24</c:v>
                </c:pt>
                <c:pt idx="2">
                  <c:v>5</c:v>
                </c:pt>
                <c:pt idx="3">
                  <c:v>3</c:v>
                </c:pt>
                <c:pt idx="4">
                  <c:v>1</c:v>
                </c:pt>
                <c:pt idx="5">
                  <c:v>5</c:v>
                </c:pt>
                <c:pt idx="6">
                  <c:v>0</c:v>
                </c:pt>
                <c:pt idx="7">
                  <c:v>2</c:v>
                </c:pt>
                <c:pt idx="8">
                  <c:v>1</c:v>
                </c:pt>
                <c:pt idx="9">
                  <c:v>0</c:v>
                </c:pt>
                <c:pt idx="10">
                  <c:v>3</c:v>
                </c:pt>
                <c:pt idx="11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7F-444B-BE6B-D01C6489A30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2118791784"/>
        <c:axId val="2140495176"/>
      </c:area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118791784"/>
        <c:crosses val="autoZero"/>
        <c:crossBetween val="midCat"/>
      </c:valAx>
    </c:plotArea>
    <c:plotVisOnly val="1"/>
    <c:dispBlanksAs val="gap"/>
    <c:showDLblsOverMax val="0"/>
  </c:chart>
  <c:spPr>
    <a:ln>
      <a:noFill/>
    </a:ln>
    <a:effectLst>
      <a:softEdge rad="0"/>
    </a:effectLst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1F7A4D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Others</c:v>
                </c:pt>
                <c:pt idx="1">
                  <c:v>Biostimulant</c:v>
                </c:pt>
                <c:pt idx="2">
                  <c:v>Fungicide</c:v>
                </c:pt>
                <c:pt idx="3">
                  <c:v>Fertilizer</c:v>
                </c:pt>
                <c:pt idx="4">
                  <c:v>Herbicide</c:v>
                </c:pt>
                <c:pt idx="5">
                  <c:v>Biological</c:v>
                </c:pt>
                <c:pt idx="6">
                  <c:v>Adjuvant</c:v>
                </c:pt>
                <c:pt idx="7">
                  <c:v>Insecticide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19</c:v>
                </c:pt>
                <c:pt idx="1">
                  <c:v>15</c:v>
                </c:pt>
                <c:pt idx="2">
                  <c:v>12</c:v>
                </c:pt>
                <c:pt idx="3">
                  <c:v>9</c:v>
                </c:pt>
                <c:pt idx="4">
                  <c:v>3</c:v>
                </c:pt>
                <c:pt idx="5">
                  <c:v>3</c:v>
                </c:pt>
                <c:pt idx="6">
                  <c:v>2</c:v>
                </c:pt>
                <c:pt idx="7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50C-46A0-80C6-01D60E5ED57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layout>
        <c:manualLayout>
          <c:xMode val="edge"/>
          <c:yMode val="edge"/>
          <c:x val="0.24846502675019777"/>
          <c:y val="3.166847629388346E-2"/>
        </c:manualLayout>
      </c:layout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Usable Stock</c:v>
                </c:pt>
                <c:pt idx="1">
                  <c:v>Expiring Soon</c:v>
                </c:pt>
                <c:pt idx="2">
                  <c:v>Expired Records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64</c:v>
                </c:pt>
                <c:pt idx="1">
                  <c:v>4</c:v>
                </c:pt>
                <c:pt idx="2">
                  <c:v>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7A-48D3-943B-D7C48840E4B2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r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4F35"/>
          </a:solidFill>
          <a:ln>
            <a:solidFill>
              <a:srgbClr val="0B4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92321" y="467451"/>
            <a:ext cx="438840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17312A"/>
                </a:solidFill>
              </a:rPr>
              <a:t>Inventory
Performance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15155" y="1333821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0" dirty="0">
                <a:solidFill>
                  <a:srgbClr val="667085"/>
                </a:solidFill>
              </a:rPr>
              <a:t>Executive Summary  •  May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76184" y="384048"/>
            <a:ext cx="4806977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94576" y="585216"/>
            <a:ext cx="2432304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 dirty="0">
                <a:solidFill>
                  <a:srgbClr val="17312A"/>
                </a:solidFill>
              </a:rPr>
              <a:t>Management Snapshot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8691" y="896112"/>
            <a:ext cx="38372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dirty="0">
                <a:solidFill>
                  <a:srgbClr val="344054"/>
                </a:solidFill>
              </a:rPr>
              <a:t>111 current product/batch records reviewed for this monthly inventory report.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64040" y="804672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Internal reporting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" y="1993392"/>
            <a:ext cx="1993392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0352" y="1993392"/>
            <a:ext cx="1993392" cy="73152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94944" y="2249424"/>
            <a:ext cx="566928" cy="566928"/>
          </a:xfrm>
          <a:prstGeom prst="ellipse">
            <a:avLst/>
          </a:prstGeom>
          <a:solidFill>
            <a:srgbClr val="EAF7F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" y="2368296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6A34A"/>
                </a:solidFill>
              </a:rP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212848"/>
            <a:ext cx="987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7312A"/>
                </a:solidFill>
              </a:rPr>
              <a:t>Usable Stock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560320"/>
            <a:ext cx="9875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6A34A"/>
                </a:solidFill>
              </a:rPr>
              <a:t>64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035808"/>
            <a:ext cx="9875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8A2B3"/>
                </a:solidFill>
              </a:rPr>
              <a:t>Stock + not expired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98064" y="1993392"/>
            <a:ext cx="1993392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98064" y="1993392"/>
            <a:ext cx="1993392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962656" y="2249424"/>
            <a:ext cx="566928" cy="566928"/>
          </a:xfrm>
          <a:prstGeom prst="ellipse">
            <a:avLst/>
          </a:prstGeom>
          <a:solidFill>
            <a:srgbClr val="FFF3D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026664" y="2368296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59E0B"/>
                </a:solidFill>
              </a:rPr>
              <a:t>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39312" y="2212848"/>
            <a:ext cx="987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7312A"/>
                </a:solidFill>
              </a:rPr>
              <a:t>Expiring Soon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39312" y="2560320"/>
            <a:ext cx="9875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59E0B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39312" y="3035808"/>
            <a:ext cx="9875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8A2B3"/>
                </a:solidFill>
              </a:rPr>
              <a:t>Needs review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65776" y="1993392"/>
            <a:ext cx="1993392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065776" y="1993392"/>
            <a:ext cx="1993392" cy="7315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5230368" y="2249424"/>
            <a:ext cx="566928" cy="566928"/>
          </a:xfrm>
          <a:prstGeom prst="ellipse">
            <a:avLst/>
          </a:prstGeom>
          <a:solidFill>
            <a:srgbClr val="FDECE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94376" y="2368296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F4444"/>
                </a:solidFill>
              </a:rPr>
              <a:t>⚠️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07024" y="2212848"/>
            <a:ext cx="987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7312A"/>
                </a:solidFill>
              </a:rPr>
              <a:t>Expired Records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07024" y="2560320"/>
            <a:ext cx="9875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EF4444"/>
                </a:solidFill>
              </a:rPr>
              <a:t>43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07024" y="3035808"/>
            <a:ext cx="9875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8A2B3"/>
                </a:solidFill>
              </a:rPr>
              <a:t>Past expiry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33488" y="1993392"/>
            <a:ext cx="1993392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333488" y="1993392"/>
            <a:ext cx="1993392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7498079" y="2249424"/>
            <a:ext cx="566928" cy="566928"/>
          </a:xfrm>
          <a:prstGeom prst="ellipse">
            <a:avLst/>
          </a:prstGeom>
          <a:solidFill>
            <a:srgbClr val="EAF2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562088" y="2368296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563EB"/>
                </a:solidFill>
              </a:rPr>
              <a:t>⬇️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74736" y="2212848"/>
            <a:ext cx="987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7312A"/>
                </a:solidFill>
              </a:rPr>
              <a:t>Received This Month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74736" y="2560320"/>
            <a:ext cx="9875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563EB"/>
                </a:solidFill>
              </a:rPr>
              <a:t>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74736" y="3035808"/>
            <a:ext cx="9875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8A2B3"/>
                </a:solidFill>
              </a:rPr>
              <a:t>Transactions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01200" y="1993392"/>
            <a:ext cx="1993392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9601200" y="1993392"/>
            <a:ext cx="1993392" cy="7315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9765792" y="2249424"/>
            <a:ext cx="566928" cy="566928"/>
          </a:xfrm>
          <a:prstGeom prst="ellipse">
            <a:avLst/>
          </a:prstGeom>
          <a:solidFill>
            <a:srgbClr val="F3EC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829800" y="2368296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7C3AED"/>
                </a:solidFill>
              </a:rPr>
              <a:t>⬆️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42448" y="2212848"/>
            <a:ext cx="987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7312A"/>
                </a:solidFill>
              </a:rPr>
              <a:t>Released This Month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42448" y="2560320"/>
            <a:ext cx="9875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7C3AED"/>
                </a:solidFill>
              </a:rPr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42448" y="3035808"/>
            <a:ext cx="9875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8A2B3"/>
                </a:solidFill>
              </a:rPr>
              <a:t>Transactions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30352" y="3657600"/>
            <a:ext cx="5577840" cy="19933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58952" y="3822191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17312A"/>
                </a:solidFill>
              </a:rPr>
              <a:t>Key Message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8952" y="4114800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667085"/>
                </a:solidFill>
              </a:rPr>
              <a:t>What management should focus 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" y="4352544"/>
            <a:ext cx="4800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7312A"/>
                </a:solidFill>
              </a:rPr>
              <a:t>Inventory is usable for current operations, but 43 expired records and 4 expiring soon records require follow-up before the next reporting cycle.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" y="5010912"/>
            <a:ext cx="4800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344054"/>
                </a:solidFill>
              </a:rPr>
              <a:t>Monthly movement: 11 receiving transaction(s) and 0 released transaction(s) for May 2026.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309360" y="3657600"/>
            <a:ext cx="5349240" cy="19933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537960" y="3822191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17312A"/>
                </a:solidFill>
              </a:rPr>
              <a:t>Management Highlights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37960" y="4114800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667085"/>
                </a:solidFill>
              </a:rPr>
              <a:t>Auto-generated from inventory data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65392" y="4224528"/>
            <a:ext cx="4800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19" b="0">
                <a:solidFill>
                  <a:srgbClr val="344054"/>
                </a:solidFill>
              </a:rPr>
              <a:t>• Usable stock is at 64 product/batch records available for current operations.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65392" y="4626864"/>
            <a:ext cx="4800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19" b="0">
                <a:solidFill>
                  <a:srgbClr val="344054"/>
                </a:solidFill>
              </a:rPr>
              <a:t>• 4 records are expiring soon. Review utilization plans to avoid expired samples.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65392" y="5029200"/>
            <a:ext cx="4800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19" b="0">
                <a:solidFill>
                  <a:srgbClr val="344054"/>
                </a:solidFill>
              </a:rPr>
              <a:t>• 43 records are expired. Review disposal or documentation requirements.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0B4F35"/>
          </a:solidFill>
          <a:ln w="10160">
            <a:solidFill>
              <a:srgbClr val="0B4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38912" y="656539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FFFFFF"/>
                </a:solidFill>
              </a:rPr>
              <a:t>Sample Inventory Management System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749039" y="656539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AF7F0"/>
                </a:solidFill>
              </a:rPr>
              <a:t>For Internal Monthly Reporting  •  Generated May 02, 2026 09:37 AM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789920" y="65653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Page 1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594FB548-02D2-BE80-7A0C-9EF9319930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47" t="19422" r="-290" b="29249"/>
          <a:stretch>
            <a:fillRect/>
          </a:stretch>
        </p:blipFill>
        <p:spPr>
          <a:xfrm>
            <a:off x="509413" y="658368"/>
            <a:ext cx="2191759" cy="88206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645902" y="635508"/>
            <a:ext cx="777240" cy="777240"/>
          </a:xfrm>
          <a:prstGeom prst="roundRect">
            <a:avLst/>
          </a:prstGeom>
          <a:solidFill>
            <a:srgbClr val="EAF7F0"/>
          </a:solidFill>
          <a:ln w="10160">
            <a:solidFill>
              <a:srgbClr val="CF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93349" y="795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 dirty="0">
                <a:solidFill>
                  <a:srgbClr val="12352B"/>
                </a:solidFill>
              </a:rPr>
              <a:t>📦</a:t>
            </a:r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93DF17A9-F4D1-7412-1D94-B95C0033DB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47" t="19422" r="66397" b="29249"/>
          <a:stretch>
            <a:fillRect/>
          </a:stretch>
        </p:blipFill>
        <p:spPr>
          <a:xfrm>
            <a:off x="49934" y="6465222"/>
            <a:ext cx="279251" cy="3721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4F35"/>
          </a:solidFill>
          <a:ln>
            <a:solidFill>
              <a:srgbClr val="0B4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55480" y="-731520"/>
            <a:ext cx="3017520" cy="2011680"/>
          </a:xfrm>
          <a:prstGeom prst="ellipse">
            <a:avLst/>
          </a:prstGeom>
          <a:solidFill>
            <a:srgbClr val="DFF2E7"/>
          </a:solidFill>
          <a:ln>
            <a:solidFill>
              <a:srgbClr val="DF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561320" y="164592"/>
            <a:ext cx="1143000" cy="384048"/>
          </a:xfrm>
          <a:prstGeom prst="ellipse">
            <a:avLst/>
          </a:prstGeom>
          <a:solidFill>
            <a:srgbClr val="8ED3AA"/>
          </a:solidFill>
          <a:ln>
            <a:solidFill>
              <a:srgbClr val="8ED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6400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7312A"/>
                </a:solidFill>
              </a:rPr>
              <a:t>Monthly KPI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777240"/>
            <a:ext cx="6949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67085"/>
                </a:solidFill>
              </a:rPr>
              <a:t>Inventory movement and status for May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0B4F35"/>
          </a:solidFill>
          <a:ln w="10160">
            <a:solidFill>
              <a:srgbClr val="0B4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656539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FFFFFF"/>
                </a:solidFill>
              </a:rPr>
              <a:t>Sample Inventory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656539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AF7F0"/>
                </a:solidFill>
              </a:rPr>
              <a:t>For Internal Monthly Reporting  •  Generated May 02, 2026 09:37 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5653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Page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207008"/>
            <a:ext cx="20574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1207008"/>
            <a:ext cx="2057400" cy="73152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67512" y="1463040"/>
            <a:ext cx="566928" cy="566928"/>
          </a:xfrm>
          <a:prstGeom prst="ellipse">
            <a:avLst/>
          </a:prstGeom>
          <a:solidFill>
            <a:srgbClr val="EAF7F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1581912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6A34A"/>
                </a:solidFill>
              </a:rP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1426464"/>
            <a:ext cx="1051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7312A"/>
                </a:solidFill>
              </a:rPr>
              <a:t>Usable Stock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4168" y="1850936"/>
            <a:ext cx="1051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16A34A"/>
                </a:solidFill>
              </a:rPr>
              <a:t>64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44168" y="2316799"/>
            <a:ext cx="121615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dirty="0">
                <a:solidFill>
                  <a:srgbClr val="98A2B3"/>
                </a:solidFill>
              </a:rPr>
              <a:t>Stock + not expired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34639" y="1207008"/>
            <a:ext cx="20574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834639" y="1207008"/>
            <a:ext cx="20574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999232" y="1463040"/>
            <a:ext cx="566928" cy="566928"/>
          </a:xfrm>
          <a:prstGeom prst="ellipse">
            <a:avLst/>
          </a:prstGeom>
          <a:solidFill>
            <a:srgbClr val="FFF3D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063239" y="1581912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59E0B"/>
                </a:solidFill>
              </a:rPr>
              <a:t>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5887" y="1426464"/>
            <a:ext cx="1051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7312A"/>
                </a:solidFill>
              </a:rPr>
              <a:t>Expiring Soon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75887" y="1850936"/>
            <a:ext cx="1051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59E0B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75887" y="2316799"/>
            <a:ext cx="121615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8A2B3"/>
                </a:solidFill>
              </a:rPr>
              <a:t>Needs review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66359" y="1207008"/>
            <a:ext cx="20574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166359" y="1207008"/>
            <a:ext cx="2057400" cy="7315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330951" y="1463040"/>
            <a:ext cx="566928" cy="566928"/>
          </a:xfrm>
          <a:prstGeom prst="ellipse">
            <a:avLst/>
          </a:prstGeom>
          <a:solidFill>
            <a:srgbClr val="FDECE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94959" y="1581912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F4444"/>
                </a:solidFill>
              </a:rPr>
              <a:t>⚠️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07607" y="1426464"/>
            <a:ext cx="1051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7312A"/>
                </a:solidFill>
              </a:rPr>
              <a:t>Expired Records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7607" y="1850936"/>
            <a:ext cx="1051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F4444"/>
                </a:solidFill>
              </a:rPr>
              <a:t>43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07607" y="2316799"/>
            <a:ext cx="121615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8A2B3"/>
                </a:solidFill>
              </a:rPr>
              <a:t>Past expiry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79" y="1207008"/>
            <a:ext cx="20574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498079" y="1207008"/>
            <a:ext cx="2057400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7662671" y="1463040"/>
            <a:ext cx="566928" cy="566928"/>
          </a:xfrm>
          <a:prstGeom prst="ellipse">
            <a:avLst/>
          </a:prstGeom>
          <a:solidFill>
            <a:srgbClr val="EAF2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26679" y="1581912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563EB"/>
                </a:solidFill>
              </a:rPr>
              <a:t>⬇️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9327" y="1426464"/>
            <a:ext cx="1051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17312A"/>
                </a:solidFill>
              </a:rPr>
              <a:t>Received This Month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9327" y="1850936"/>
            <a:ext cx="1051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563EB"/>
                </a:solidFill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39327" y="2316799"/>
            <a:ext cx="121615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8A2B3"/>
                </a:solidFill>
              </a:rPr>
              <a:t>Transactions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29800" y="1207008"/>
            <a:ext cx="20574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829800" y="1207008"/>
            <a:ext cx="2057400" cy="7315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9994392" y="1463040"/>
            <a:ext cx="566928" cy="566928"/>
          </a:xfrm>
          <a:prstGeom prst="ellipse">
            <a:avLst/>
          </a:prstGeom>
          <a:solidFill>
            <a:srgbClr val="F3EC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058400" y="1581912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7C3AED"/>
                </a:solidFill>
              </a:rPr>
              <a:t>⬆️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71048" y="1426464"/>
            <a:ext cx="1051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7312A"/>
                </a:solidFill>
              </a:rPr>
              <a:t>Released This Month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71048" y="1850936"/>
            <a:ext cx="1051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7C3AED"/>
                </a:solidFill>
              </a:rPr>
              <a:t>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71048" y="2316799"/>
            <a:ext cx="121615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8A2B3"/>
                </a:solidFill>
              </a:rPr>
              <a:t>Transactions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920" y="2936669"/>
            <a:ext cx="5440680" cy="2978055"/>
          </a:xfrm>
          <a:prstGeom prst="roundRect">
            <a:avLst>
              <a:gd name="adj" fmla="val 8172"/>
            </a:avLst>
          </a:prstGeom>
          <a:solidFill>
            <a:srgbClr val="FFFFFF"/>
          </a:solidFill>
          <a:ln w="10160">
            <a:solidFill>
              <a:srgbClr val="DD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35369" y="3110404"/>
            <a:ext cx="4983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17312A"/>
                </a:solidFill>
              </a:rPr>
              <a:t>Interpretation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0395" y="3454603"/>
            <a:ext cx="384769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100" b="0" dirty="0">
                <a:solidFill>
                  <a:srgbClr val="667085"/>
                </a:solidFill>
              </a:rPr>
              <a:t>(</a:t>
            </a:r>
            <a:r>
              <a:rPr sz="1100" b="0" dirty="0">
                <a:solidFill>
                  <a:srgbClr val="667085"/>
                </a:solidFill>
              </a:rPr>
              <a:t>How to read this month’s metrics</a:t>
            </a:r>
            <a:r>
              <a:rPr lang="en-PH" sz="1100" b="0" dirty="0">
                <a:solidFill>
                  <a:srgbClr val="667085"/>
                </a:solidFill>
              </a:rPr>
              <a:t>)</a:t>
            </a:r>
            <a:endParaRPr sz="1100" b="0" dirty="0">
              <a:solidFill>
                <a:srgbClr val="667085"/>
              </a:solidFill>
            </a:endParaRPr>
          </a:p>
        </p:txBody>
      </p:sp>
      <p:sp>
        <p:nvSpPr>
          <p:cNvPr id="49" name="Oval 48"/>
          <p:cNvSpPr/>
          <p:nvPr/>
        </p:nvSpPr>
        <p:spPr>
          <a:xfrm>
            <a:off x="749808" y="3793316"/>
            <a:ext cx="566928" cy="566928"/>
          </a:xfrm>
          <a:prstGeom prst="ellipse">
            <a:avLst/>
          </a:prstGeom>
          <a:solidFill>
            <a:srgbClr val="EAF7F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13815" y="3912187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7A4D"/>
                </a:solidFill>
              </a:rPr>
              <a:t>✅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17320" y="3811604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dirty="0">
                <a:solidFill>
                  <a:srgbClr val="17312A"/>
                </a:solidFill>
              </a:rPr>
              <a:t>Usable Stock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4104212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dirty="0">
                <a:solidFill>
                  <a:srgbClr val="344054"/>
                </a:solidFill>
              </a:rPr>
              <a:t>Records with inventory balance and not past expiry.</a:t>
            </a:r>
          </a:p>
        </p:txBody>
      </p:sp>
      <p:sp>
        <p:nvSpPr>
          <p:cNvPr id="53" name="Oval 52"/>
          <p:cNvSpPr/>
          <p:nvPr/>
        </p:nvSpPr>
        <p:spPr>
          <a:xfrm>
            <a:off x="749808" y="4451684"/>
            <a:ext cx="566928" cy="566928"/>
          </a:xfrm>
          <a:prstGeom prst="ellipse">
            <a:avLst/>
          </a:prstGeom>
          <a:solidFill>
            <a:srgbClr val="EAF2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13815" y="4570556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563EB"/>
                </a:solidFill>
              </a:rPr>
              <a:t>⬇️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417320" y="4469971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7312A"/>
                </a:solidFill>
              </a:rPr>
              <a:t>Monthly Movement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762580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344054"/>
                </a:solidFill>
              </a:rPr>
              <a:t>Received and released figures count transaction records, not total packs.</a:t>
            </a:r>
          </a:p>
        </p:txBody>
      </p:sp>
      <p:sp>
        <p:nvSpPr>
          <p:cNvPr id="57" name="Oval 56"/>
          <p:cNvSpPr/>
          <p:nvPr/>
        </p:nvSpPr>
        <p:spPr>
          <a:xfrm>
            <a:off x="749808" y="5110052"/>
            <a:ext cx="566928" cy="566928"/>
          </a:xfrm>
          <a:prstGeom prst="ellipse">
            <a:avLst/>
          </a:prstGeom>
          <a:solidFill>
            <a:srgbClr val="FDECE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13815" y="5228924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F4444"/>
                </a:solidFill>
              </a:rPr>
              <a:t>⚠️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417320" y="5128339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7312A"/>
                </a:solidFill>
              </a:rPr>
              <a:t>Expired Records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417320" y="5420948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dirty="0">
                <a:solidFill>
                  <a:srgbClr val="344054"/>
                </a:solidFill>
              </a:rPr>
              <a:t>Expired records require disposition review, documentation, or disposal plan.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63640" y="2936669"/>
            <a:ext cx="5440680" cy="2978055"/>
          </a:xfrm>
          <a:prstGeom prst="roundRect">
            <a:avLst>
              <a:gd name="adj" fmla="val 6325"/>
            </a:avLst>
          </a:prstGeom>
          <a:solidFill>
            <a:srgbClr val="FFFFFF"/>
          </a:solidFill>
          <a:ln w="10160">
            <a:solidFill>
              <a:srgbClr val="DD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496089" y="3110404"/>
            <a:ext cx="4983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17312A"/>
                </a:solidFill>
              </a:rPr>
              <a:t>Attention Needed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96089" y="3415295"/>
            <a:ext cx="4983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100" b="0" dirty="0">
                <a:solidFill>
                  <a:srgbClr val="667085"/>
                </a:solidFill>
              </a:rPr>
              <a:t>(</a:t>
            </a:r>
            <a:r>
              <a:rPr sz="1100" b="0" dirty="0">
                <a:solidFill>
                  <a:srgbClr val="667085"/>
                </a:solidFill>
              </a:rPr>
              <a:t>Priority review items</a:t>
            </a:r>
            <a:r>
              <a:rPr lang="en-PH" sz="1100" b="0" dirty="0">
                <a:solidFill>
                  <a:srgbClr val="667085"/>
                </a:solidFill>
              </a:rPr>
              <a:t>)</a:t>
            </a:r>
            <a:endParaRPr sz="1100" b="0" dirty="0">
              <a:solidFill>
                <a:srgbClr val="667085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629400" y="3857324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dirty="0">
                <a:solidFill>
                  <a:srgbClr val="EF4444"/>
                </a:solidFill>
              </a:rPr>
              <a:t>Expired Records: 43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29400" y="4341956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59E0B"/>
                </a:solidFill>
              </a:rPr>
              <a:t>Expiring Soon: 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29400" y="4982036"/>
            <a:ext cx="4434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44054"/>
                </a:solidFill>
              </a:rPr>
              <a:t>Recommended action: validate utilization, disposal, and redistribution plan before next reporting period.</a:t>
            </a:r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C01B578F-74DA-D773-3FD1-D69E5ECBFE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47" t="19422" r="66397" b="29249"/>
          <a:stretch>
            <a:fillRect/>
          </a:stretch>
        </p:blipFill>
        <p:spPr>
          <a:xfrm>
            <a:off x="49934" y="6465222"/>
            <a:ext cx="279251" cy="37211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4F35"/>
          </a:solidFill>
          <a:ln>
            <a:solidFill>
              <a:srgbClr val="0B4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55480" y="-731520"/>
            <a:ext cx="3017520" cy="2011680"/>
          </a:xfrm>
          <a:prstGeom prst="ellipse">
            <a:avLst/>
          </a:prstGeom>
          <a:solidFill>
            <a:srgbClr val="DFF2E7"/>
          </a:solidFill>
          <a:ln>
            <a:solidFill>
              <a:srgbClr val="DF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561320" y="164592"/>
            <a:ext cx="1143000" cy="384048"/>
          </a:xfrm>
          <a:prstGeom prst="ellipse">
            <a:avLst/>
          </a:prstGeom>
          <a:solidFill>
            <a:srgbClr val="8ED3AA"/>
          </a:solidFill>
          <a:ln>
            <a:solidFill>
              <a:srgbClr val="8ED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6400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7312A"/>
                </a:solidFill>
              </a:rPr>
              <a:t>Sample-In Transaction Trend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777240"/>
            <a:ext cx="6949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67085"/>
                </a:solidFill>
              </a:rPr>
              <a:t>Receiving activity across the current month and previous 11 months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0B4F35"/>
          </a:solidFill>
          <a:ln w="10160">
            <a:solidFill>
              <a:srgbClr val="0B4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656539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FFFFFF"/>
                </a:solidFill>
              </a:rPr>
              <a:t>Sample Inventory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656539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AF7F0"/>
                </a:solidFill>
              </a:rPr>
              <a:t>For Internal Monthly Reporting  •  Generated May 02, 2026 09:37 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5653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Page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143000"/>
            <a:ext cx="7406640" cy="4709160"/>
          </a:xfrm>
          <a:prstGeom prst="roundRect">
            <a:avLst>
              <a:gd name="adj" fmla="val 3803"/>
            </a:avLst>
          </a:prstGeom>
          <a:solidFill>
            <a:srgbClr val="FFFFFF"/>
          </a:solidFill>
          <a:ln w="10160">
            <a:solidFill>
              <a:srgbClr val="DD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1307592"/>
            <a:ext cx="6949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17312A"/>
                </a:solidFill>
              </a:rPr>
              <a:t>Sample-In Entries — Last 12 Months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00200"/>
            <a:ext cx="6949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667085"/>
                </a:solidFill>
              </a:rPr>
              <a:t>Counts receiving transaction records per month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6604829"/>
              </p:ext>
            </p:extLst>
          </p:nvPr>
        </p:nvGraphicFramePr>
        <p:xfrm>
          <a:off x="822960" y="1783080"/>
          <a:ext cx="672084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914400" y="537667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7312A"/>
                </a:solidFill>
              </a:rPr>
              <a:t>Total entries shown: 60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143000"/>
            <a:ext cx="3474720" cy="4709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130759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17312A"/>
                </a:solidFill>
              </a:rPr>
              <a:t>Trend Insight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600200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667085"/>
                </a:solidFill>
              </a:rPr>
              <a:t>Quick interpretation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1828800"/>
            <a:ext cx="2926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44054"/>
                </a:solidFill>
              </a:rPr>
              <a:t>Use this chart to identify months with unusually high receiving activity and validate if all supporting documents are complete.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834640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563EB"/>
                </a:solidFill>
              </a:rPr>
              <a:t>For May 2026, there were 11 receiving transaction(s).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858768"/>
            <a:ext cx="2926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344054"/>
                </a:solidFill>
              </a:rPr>
              <a:t>Action: review bulk receiving months for complete batch number, supplier, expiry, and remarks information.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31BC83E-A3C8-2C9E-4B48-0C1F806FA7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47" t="19422" r="66397" b="29249"/>
          <a:stretch>
            <a:fillRect/>
          </a:stretch>
        </p:blipFill>
        <p:spPr>
          <a:xfrm>
            <a:off x="49934" y="6465222"/>
            <a:ext cx="279251" cy="3721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4F35"/>
          </a:solidFill>
          <a:ln>
            <a:solidFill>
              <a:srgbClr val="0B4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55480" y="-731520"/>
            <a:ext cx="3017520" cy="2011680"/>
          </a:xfrm>
          <a:prstGeom prst="ellipse">
            <a:avLst/>
          </a:prstGeom>
          <a:solidFill>
            <a:srgbClr val="DFF2E7"/>
          </a:solidFill>
          <a:ln>
            <a:solidFill>
              <a:srgbClr val="DF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561320" y="164592"/>
            <a:ext cx="1143000" cy="384048"/>
          </a:xfrm>
          <a:prstGeom prst="ellipse">
            <a:avLst/>
          </a:prstGeom>
          <a:solidFill>
            <a:srgbClr val="8ED3AA"/>
          </a:solidFill>
          <a:ln>
            <a:solidFill>
              <a:srgbClr val="8ED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6400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17312A"/>
                </a:solidFill>
              </a:rPr>
              <a:t>Inventory Composition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777240"/>
            <a:ext cx="6949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67085"/>
                </a:solidFill>
              </a:rPr>
              <a:t>Product categories and status distribution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0B4F35"/>
          </a:solidFill>
          <a:ln w="10160">
            <a:solidFill>
              <a:srgbClr val="0B4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656539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FFFFFF"/>
                </a:solidFill>
              </a:rPr>
              <a:t>Sample Inventory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656539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AF7F0"/>
                </a:solidFill>
              </a:rPr>
              <a:t>For Internal Monthly Reporting  •  Generated May 02, 2026 09:37 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5653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Page 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143000"/>
            <a:ext cx="5577840" cy="4754880"/>
          </a:xfrm>
          <a:prstGeom prst="roundRect">
            <a:avLst>
              <a:gd name="adj" fmla="val 6343"/>
            </a:avLst>
          </a:prstGeom>
          <a:solidFill>
            <a:srgbClr val="FFFFFF"/>
          </a:solidFill>
          <a:ln w="10160">
            <a:solidFill>
              <a:srgbClr val="DD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1307592"/>
            <a:ext cx="512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17312A"/>
                </a:solidFill>
              </a:rPr>
              <a:t>Product Sample Category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00200"/>
            <a:ext cx="51206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dirty="0">
                <a:solidFill>
                  <a:srgbClr val="667085"/>
                </a:solidFill>
              </a:rPr>
              <a:t>Available product/batch records by category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5814282"/>
              </p:ext>
            </p:extLst>
          </p:nvPr>
        </p:nvGraphicFramePr>
        <p:xfrm>
          <a:off x="841248" y="1783080"/>
          <a:ext cx="49834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6309360" y="1143000"/>
            <a:ext cx="5349240" cy="4754880"/>
          </a:xfrm>
          <a:prstGeom prst="roundRect">
            <a:avLst>
              <a:gd name="adj" fmla="val 3712"/>
            </a:avLst>
          </a:prstGeom>
          <a:solidFill>
            <a:srgbClr val="FFFFFF"/>
          </a:solidFill>
          <a:ln w="10160">
            <a:solidFill>
              <a:srgbClr val="DD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60" y="1307592"/>
            <a:ext cx="4892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17312A"/>
                </a:solidFill>
              </a:rPr>
              <a:t>Product Status Summary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1600200"/>
            <a:ext cx="48920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dirty="0">
                <a:solidFill>
                  <a:srgbClr val="667085"/>
                </a:solidFill>
              </a:rPr>
              <a:t>Distribution of current product/batch records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1497953"/>
              </p:ext>
            </p:extLst>
          </p:nvPr>
        </p:nvGraphicFramePr>
        <p:xfrm>
          <a:off x="6629400" y="1816047"/>
          <a:ext cx="3777916" cy="28072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9585960" y="1915909"/>
            <a:ext cx="2103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dirty="0">
                <a:solidFill>
                  <a:srgbClr val="17312A"/>
                </a:solidFill>
              </a:rPr>
              <a:t>Total Records
111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05461" y="3142152"/>
            <a:ext cx="1737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dirty="0">
                <a:solidFill>
                  <a:srgbClr val="344054"/>
                </a:solidFill>
              </a:rPr>
              <a:t>Usable: 64
Expiring: 4
Expired: 43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4736592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dirty="0">
                <a:solidFill>
                  <a:srgbClr val="344054"/>
                </a:solidFill>
              </a:rPr>
              <a:t>Focus: expired and expiring samples should be reviewed before the next monthly reporting cycle.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4436D28-A99C-98EC-0A6E-ABA61675E9E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747" t="19422" r="66397" b="29249"/>
          <a:stretch>
            <a:fillRect/>
          </a:stretch>
        </p:blipFill>
        <p:spPr>
          <a:xfrm>
            <a:off x="49934" y="6465222"/>
            <a:ext cx="279251" cy="37211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4F35"/>
          </a:solidFill>
          <a:ln>
            <a:solidFill>
              <a:srgbClr val="0B4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6400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17312A"/>
                </a:solidFill>
              </a:rPr>
              <a:t>Recent Sample Movement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777240"/>
            <a:ext cx="6949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67085"/>
                </a:solidFill>
              </a:rPr>
              <a:t>Receiving records for May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0B4F35"/>
          </a:solidFill>
          <a:ln w="10160">
            <a:solidFill>
              <a:srgbClr val="0B4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656539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FFFFFF"/>
                </a:solidFill>
              </a:rPr>
              <a:t>Sample Inventory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656539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AF7F0"/>
                </a:solidFill>
              </a:rPr>
              <a:t>For Internal Monthly Reporting  •  Generated May 02, 2026 09:37 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5653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Page 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078992"/>
            <a:ext cx="11201400" cy="5212080"/>
          </a:xfrm>
          <a:prstGeom prst="roundRect">
            <a:avLst>
              <a:gd name="adj" fmla="val 4109"/>
            </a:avLst>
          </a:prstGeom>
          <a:solidFill>
            <a:srgbClr val="FFFFFF"/>
          </a:solidFill>
          <a:ln w="10160">
            <a:solidFill>
              <a:srgbClr val="DD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1243584"/>
            <a:ext cx="10744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17312A"/>
                </a:solidFill>
              </a:rPr>
              <a:t>Recently Received Samples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536192"/>
            <a:ext cx="10744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667085"/>
                </a:solidFill>
              </a:rPr>
              <a:t>Latest receiving transactions in the selected reporting window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7558626"/>
              </p:ext>
            </p:extLst>
          </p:nvPr>
        </p:nvGraphicFramePr>
        <p:xfrm>
          <a:off x="749808" y="1737360"/>
          <a:ext cx="10698477" cy="4080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28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57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94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3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03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397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4848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Date Received</a:t>
                      </a:r>
                    </a:p>
                  </a:txBody>
                  <a:tcPr anchor="ctr"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Product</a:t>
                      </a:r>
                    </a:p>
                  </a:txBody>
                  <a:tcPr anchor="ctr"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Supplier</a:t>
                      </a:r>
                    </a:p>
                  </a:txBody>
                  <a:tcPr anchor="ctr"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Quantity</a:t>
                      </a:r>
                    </a:p>
                  </a:txBody>
                  <a:tcPr anchor="ctr"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Pack Type</a:t>
                      </a:r>
                    </a:p>
                  </a:txBody>
                  <a:tcPr anchor="ctr"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Remarks</a:t>
                      </a:r>
                    </a:p>
                  </a:txBody>
                  <a:tcPr anchor="ctr">
                    <a:solidFill>
                      <a:srgbClr val="1F7A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8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44054"/>
                          </a:solidFill>
                        </a:rPr>
                        <a:t>2026-05-01</a:t>
                      </a:r>
                    </a:p>
                  </a:txBody>
                  <a:tcPr>
                    <a:solidFill>
                      <a:srgbClr val="FB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44054"/>
                          </a:solidFill>
                        </a:rPr>
                        <a:t>Delfan Plus</a:t>
                      </a:r>
                    </a:p>
                  </a:txBody>
                  <a:tcPr>
                    <a:solidFill>
                      <a:srgbClr val="FB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44054"/>
                          </a:solidFill>
                        </a:rPr>
                        <a:t>ROVENSA</a:t>
                      </a:r>
                    </a:p>
                  </a:txBody>
                  <a:tcPr>
                    <a:solidFill>
                      <a:srgbClr val="FB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44054"/>
                          </a:solidFill>
                        </a:rPr>
                        <a:t>200</a:t>
                      </a:r>
                    </a:p>
                  </a:txBody>
                  <a:tcPr>
                    <a:solidFill>
                      <a:srgbClr val="FB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44054"/>
                          </a:solidFill>
                        </a:rPr>
                        <a:t>Bottle</a:t>
                      </a:r>
                    </a:p>
                  </a:txBody>
                  <a:tcPr>
                    <a:solidFill>
                      <a:srgbClr val="FBFDFC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/>
                    </a:p>
                  </a:txBody>
                  <a:tcPr>
                    <a:solidFill>
                      <a:srgbClr val="FB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8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44054"/>
                          </a:solidFill>
                        </a:rPr>
                        <a:t>2026-05-01</a:t>
                      </a:r>
                    </a:p>
                  </a:txBody>
                  <a:tcPr>
                    <a:solidFill>
                      <a:srgbClr val="F4F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344054"/>
                          </a:solidFill>
                        </a:rPr>
                        <a:t>SILWET 408</a:t>
                      </a:r>
                    </a:p>
                  </a:txBody>
                  <a:tcPr>
                    <a:solidFill>
                      <a:srgbClr val="F4F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44054"/>
                          </a:solidFill>
                        </a:rPr>
                        <a:t>Unknown Supplier</a:t>
                      </a:r>
                    </a:p>
                  </a:txBody>
                  <a:tcPr>
                    <a:solidFill>
                      <a:srgbClr val="F4F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44054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4F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44054"/>
                          </a:solidFill>
                        </a:rPr>
                        <a:t>Bottle</a:t>
                      </a:r>
                    </a:p>
                  </a:txBody>
                  <a:tcPr>
                    <a:solidFill>
                      <a:srgbClr val="F4FBF7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/>
                    </a:p>
                  </a:txBody>
                  <a:tcPr>
                    <a:solidFill>
                      <a:srgbClr val="F4F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8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44054"/>
                          </a:solidFill>
                        </a:rPr>
                        <a:t>2026-05-01</a:t>
                      </a:r>
                    </a:p>
                  </a:txBody>
                  <a:tcPr>
                    <a:solidFill>
                      <a:srgbClr val="FB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44054"/>
                          </a:solidFill>
                        </a:rPr>
                        <a:t>CHLORPYRIFOS MB</a:t>
                      </a:r>
                    </a:p>
                  </a:txBody>
                  <a:tcPr>
                    <a:solidFill>
                      <a:srgbClr val="FB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44054"/>
                          </a:solidFill>
                        </a:rPr>
                        <a:t>Unknown Supplier</a:t>
                      </a:r>
                    </a:p>
                  </a:txBody>
                  <a:tcPr>
                    <a:solidFill>
                      <a:srgbClr val="FB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44054"/>
                          </a:solidFill>
                        </a:rPr>
                        <a:t>11.5</a:t>
                      </a:r>
                    </a:p>
                  </a:txBody>
                  <a:tcPr>
                    <a:solidFill>
                      <a:srgbClr val="FB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44054"/>
                          </a:solidFill>
                        </a:rPr>
                        <a:t>Bag</a:t>
                      </a:r>
                    </a:p>
                  </a:txBody>
                  <a:tcPr>
                    <a:solidFill>
                      <a:srgbClr val="FBFDFC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/>
                    </a:p>
                  </a:txBody>
                  <a:tcPr>
                    <a:solidFill>
                      <a:srgbClr val="FB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8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44054"/>
                          </a:solidFill>
                        </a:rPr>
                        <a:t>2026-05-01</a:t>
                      </a:r>
                    </a:p>
                  </a:txBody>
                  <a:tcPr>
                    <a:solidFill>
                      <a:srgbClr val="F4F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44054"/>
                          </a:solidFill>
                        </a:rPr>
                        <a:t>COBALT ACETATE</a:t>
                      </a:r>
                    </a:p>
                  </a:txBody>
                  <a:tcPr>
                    <a:solidFill>
                      <a:srgbClr val="F4F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44054"/>
                          </a:solidFill>
                        </a:rPr>
                        <a:t>Unknown Supplier</a:t>
                      </a:r>
                    </a:p>
                  </a:txBody>
                  <a:tcPr>
                    <a:solidFill>
                      <a:srgbClr val="F4F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44054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4F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44054"/>
                          </a:solidFill>
                        </a:rPr>
                        <a:t>Bag</a:t>
                      </a:r>
                    </a:p>
                  </a:txBody>
                  <a:tcPr>
                    <a:solidFill>
                      <a:srgbClr val="F4FBF7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/>
                    </a:p>
                  </a:txBody>
                  <a:tcPr>
                    <a:solidFill>
                      <a:srgbClr val="F4F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8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44054"/>
                          </a:solidFill>
                        </a:rPr>
                        <a:t>2026-05-01</a:t>
                      </a:r>
                    </a:p>
                  </a:txBody>
                  <a:tcPr>
                    <a:solidFill>
                      <a:srgbClr val="FB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44054"/>
                          </a:solidFill>
                        </a:rPr>
                        <a:t>ICC</a:t>
                      </a:r>
                    </a:p>
                  </a:txBody>
                  <a:tcPr>
                    <a:solidFill>
                      <a:srgbClr val="FB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44054"/>
                          </a:solidFill>
                        </a:rPr>
                        <a:t>Unknown Supplier</a:t>
                      </a:r>
                    </a:p>
                  </a:txBody>
                  <a:tcPr>
                    <a:solidFill>
                      <a:srgbClr val="FB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44054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B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44054"/>
                          </a:solidFill>
                        </a:rPr>
                        <a:t>Bottle</a:t>
                      </a:r>
                    </a:p>
                  </a:txBody>
                  <a:tcPr>
                    <a:solidFill>
                      <a:srgbClr val="FBFDFC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/>
                    </a:p>
                  </a:txBody>
                  <a:tcPr>
                    <a:solidFill>
                      <a:srgbClr val="FB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8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44054"/>
                          </a:solidFill>
                        </a:rPr>
                        <a:t>2026-05-01</a:t>
                      </a:r>
                    </a:p>
                  </a:txBody>
                  <a:tcPr>
                    <a:solidFill>
                      <a:srgbClr val="F4F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44054"/>
                          </a:solidFill>
                        </a:rPr>
                        <a:t>GIBBERILLIC ACID (CHINA SOURCE)</a:t>
                      </a:r>
                    </a:p>
                  </a:txBody>
                  <a:tcPr>
                    <a:solidFill>
                      <a:srgbClr val="F4F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44054"/>
                          </a:solidFill>
                        </a:rPr>
                        <a:t>CROP ALLIANCE</a:t>
                      </a:r>
                    </a:p>
                  </a:txBody>
                  <a:tcPr>
                    <a:solidFill>
                      <a:srgbClr val="F4F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44054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4F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44054"/>
                          </a:solidFill>
                        </a:rPr>
                        <a:t>Bag</a:t>
                      </a:r>
                    </a:p>
                  </a:txBody>
                  <a:tcPr>
                    <a:solidFill>
                      <a:srgbClr val="F4FBF7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/>
                    </a:p>
                  </a:txBody>
                  <a:tcPr>
                    <a:solidFill>
                      <a:srgbClr val="F4F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8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44054"/>
                          </a:solidFill>
                        </a:rPr>
                        <a:t>2026-05-01</a:t>
                      </a:r>
                    </a:p>
                  </a:txBody>
                  <a:tcPr>
                    <a:solidFill>
                      <a:srgbClr val="FB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44054"/>
                          </a:solidFill>
                        </a:rPr>
                        <a:t>FRUIT BAG</a:t>
                      </a:r>
                    </a:p>
                  </a:txBody>
                  <a:tcPr>
                    <a:solidFill>
                      <a:srgbClr val="FB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44054"/>
                          </a:solidFill>
                        </a:rPr>
                        <a:t>Unknown Supplier</a:t>
                      </a:r>
                    </a:p>
                  </a:txBody>
                  <a:tcPr>
                    <a:solidFill>
                      <a:srgbClr val="FB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44054"/>
                          </a:solidFill>
                        </a:rPr>
                        <a:t>2.5</a:t>
                      </a:r>
                    </a:p>
                  </a:txBody>
                  <a:tcPr>
                    <a:solidFill>
                      <a:srgbClr val="FB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44054"/>
                          </a:solidFill>
                        </a:rPr>
                        <a:t>Bag</a:t>
                      </a:r>
                    </a:p>
                  </a:txBody>
                  <a:tcPr>
                    <a:solidFill>
                      <a:srgbClr val="FBFDFC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/>
                    </a:p>
                  </a:txBody>
                  <a:tcPr>
                    <a:solidFill>
                      <a:srgbClr val="FB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48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44054"/>
                          </a:solidFill>
                        </a:rPr>
                        <a:t>2026-05-01</a:t>
                      </a:r>
                    </a:p>
                  </a:txBody>
                  <a:tcPr>
                    <a:solidFill>
                      <a:srgbClr val="F4F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44054"/>
                          </a:solidFill>
                        </a:rPr>
                        <a:t>VERNO Cu30 + Zn30</a:t>
                      </a:r>
                    </a:p>
                  </a:txBody>
                  <a:tcPr>
                    <a:solidFill>
                      <a:srgbClr val="F4F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44054"/>
                          </a:solidFill>
                        </a:rPr>
                        <a:t>Allied Botanical</a:t>
                      </a:r>
                    </a:p>
                  </a:txBody>
                  <a:tcPr>
                    <a:solidFill>
                      <a:srgbClr val="F4F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44054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4F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44054"/>
                          </a:solidFill>
                        </a:rPr>
                        <a:t>Bag</a:t>
                      </a:r>
                    </a:p>
                  </a:txBody>
                  <a:tcPr>
                    <a:solidFill>
                      <a:srgbClr val="F4FBF7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 dirty="0"/>
                    </a:p>
                  </a:txBody>
                  <a:tcPr>
                    <a:solidFill>
                      <a:srgbClr val="F4F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822960" y="5875020"/>
            <a:ext cx="78638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dirty="0">
                <a:solidFill>
                  <a:srgbClr val="667085"/>
                </a:solidFill>
              </a:rPr>
              <a:t>Tip: Detailed line-item records remain available in the app report preview and exported Excel files.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7416C0E-804D-A150-DE92-A59CCAA0EF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47" t="19422" r="66397" b="29249"/>
          <a:stretch>
            <a:fillRect/>
          </a:stretch>
        </p:blipFill>
        <p:spPr>
          <a:xfrm>
            <a:off x="49934" y="6465222"/>
            <a:ext cx="279251" cy="3721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4F35"/>
          </a:solidFill>
          <a:ln>
            <a:solidFill>
              <a:srgbClr val="0B4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6400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17312A"/>
                </a:solidFill>
              </a:rPr>
              <a:t>Actions and Follow-up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777240"/>
            <a:ext cx="6949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67085"/>
                </a:solidFill>
              </a:rPr>
              <a:t>Released samples, risks, and next-step recommendations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0B4F35"/>
          </a:solidFill>
          <a:ln w="10160">
            <a:solidFill>
              <a:srgbClr val="0B4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656539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FFFFFF"/>
                </a:solidFill>
              </a:rPr>
              <a:t>Sample Inventory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656539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AF7F0"/>
                </a:solidFill>
              </a:rPr>
              <a:t>For Internal Monthly Reporting  •  Generated May 02, 2026 09:37 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5653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Page 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115568"/>
            <a:ext cx="5394960" cy="2148840"/>
          </a:xfrm>
          <a:prstGeom prst="roundRect">
            <a:avLst>
              <a:gd name="adj" fmla="val 8268"/>
            </a:avLst>
          </a:prstGeom>
          <a:solidFill>
            <a:srgbClr val="FFFFFF"/>
          </a:solidFill>
          <a:ln w="10160">
            <a:solidFill>
              <a:srgbClr val="DD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1280160"/>
            <a:ext cx="49377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17312A"/>
                </a:solidFill>
              </a:rPr>
              <a:t>Released Samples This 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572768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667085"/>
                </a:solidFill>
              </a:rPr>
              <a:t>Sample Out transaction summary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65960"/>
            <a:ext cx="4389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dirty="0">
                <a:solidFill>
                  <a:srgbClr val="667085"/>
                </a:solidFill>
              </a:rPr>
              <a:t>No released transactions were recorded for the selected month.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115568"/>
            <a:ext cx="5532120" cy="4434840"/>
          </a:xfrm>
          <a:prstGeom prst="roundRect">
            <a:avLst>
              <a:gd name="adj" fmla="val 4187"/>
            </a:avLst>
          </a:prstGeom>
          <a:solidFill>
            <a:srgbClr val="FFFFFF"/>
          </a:solidFill>
          <a:ln w="10160">
            <a:solidFill>
              <a:srgbClr val="DD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1280160"/>
            <a:ext cx="5074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17312A"/>
                </a:solidFill>
              </a:rPr>
              <a:t>Recommended 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572768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667085"/>
                </a:solidFill>
              </a:rPr>
              <a:t>Suggested follow-up for next reporting cycle</a:t>
            </a:r>
          </a:p>
        </p:txBody>
      </p:sp>
      <p:sp>
        <p:nvSpPr>
          <p:cNvPr id="18" name="Oval 17"/>
          <p:cNvSpPr/>
          <p:nvPr/>
        </p:nvSpPr>
        <p:spPr>
          <a:xfrm>
            <a:off x="6446520" y="1783080"/>
            <a:ext cx="566928" cy="566928"/>
          </a:xfrm>
          <a:prstGeom prst="ellipse">
            <a:avLst/>
          </a:prstGeom>
          <a:solidFill>
            <a:srgbClr val="FDECE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10528" y="1901952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F4444"/>
                </a:solidFill>
              </a:rPr>
              <a:t>⚠️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50608" y="1801368"/>
            <a:ext cx="4023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17312A"/>
                </a:solidFill>
              </a:rPr>
              <a:t>Review Expired Records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0608" y="20574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44054"/>
                </a:solidFill>
              </a:rPr>
              <a:t>Validate 43 expired product/batch records for disposal, retention, or documentation.</a:t>
            </a:r>
          </a:p>
        </p:txBody>
      </p:sp>
      <p:sp>
        <p:nvSpPr>
          <p:cNvPr id="22" name="Oval 21"/>
          <p:cNvSpPr/>
          <p:nvPr/>
        </p:nvSpPr>
        <p:spPr>
          <a:xfrm>
            <a:off x="6446520" y="2624328"/>
            <a:ext cx="566928" cy="566928"/>
          </a:xfrm>
          <a:prstGeom prst="ellipse">
            <a:avLst/>
          </a:prstGeom>
          <a:solidFill>
            <a:srgbClr val="FFF3D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10528" y="2743200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59E0B"/>
                </a:solidFill>
              </a:rPr>
              <a:t>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0608" y="2642616"/>
            <a:ext cx="4023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17312A"/>
                </a:solidFill>
              </a:rPr>
              <a:t>Monitor Expiring Soon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0608" y="289864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44054"/>
                </a:solidFill>
              </a:rPr>
              <a:t>Plan utilization or redistribution for 4 expiring soon records.</a:t>
            </a:r>
          </a:p>
        </p:txBody>
      </p:sp>
      <p:sp>
        <p:nvSpPr>
          <p:cNvPr id="26" name="Oval 25"/>
          <p:cNvSpPr/>
          <p:nvPr/>
        </p:nvSpPr>
        <p:spPr>
          <a:xfrm>
            <a:off x="6446520" y="3465576"/>
            <a:ext cx="566928" cy="566928"/>
          </a:xfrm>
          <a:prstGeom prst="ellipse">
            <a:avLst/>
          </a:prstGeom>
          <a:solidFill>
            <a:srgbClr val="EAF2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10528" y="3584448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563EB"/>
                </a:solidFill>
              </a:rPr>
              <a:t>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50608" y="3483864"/>
            <a:ext cx="4023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17312A"/>
                </a:solidFill>
              </a:rPr>
              <a:t>Validate Monthly Movement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0608" y="373989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44054"/>
                </a:solidFill>
              </a:rPr>
              <a:t>Check 11 received and 0 released transaction records for completeness.</a:t>
            </a:r>
          </a:p>
        </p:txBody>
      </p:sp>
      <p:sp>
        <p:nvSpPr>
          <p:cNvPr id="30" name="Oval 29"/>
          <p:cNvSpPr/>
          <p:nvPr/>
        </p:nvSpPr>
        <p:spPr>
          <a:xfrm>
            <a:off x="6446520" y="4306824"/>
            <a:ext cx="566928" cy="566928"/>
          </a:xfrm>
          <a:prstGeom prst="ellipse">
            <a:avLst/>
          </a:prstGeom>
          <a:solidFill>
            <a:srgbClr val="EAF7F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10528" y="4425696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7A4D"/>
                </a:solidFill>
              </a:rPr>
              <a:t>🛡️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50608" y="4325112"/>
            <a:ext cx="4023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17312A"/>
                </a:solidFill>
              </a:rPr>
              <a:t>Maintain Backup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50608" y="4581144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44054"/>
                </a:solidFill>
              </a:rPr>
              <a:t>Download database backup after monthly reporting and store it in the official shared folder.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3685032"/>
            <a:ext cx="5394960" cy="1865376"/>
          </a:xfrm>
          <a:prstGeom prst="roundRect">
            <a:avLst>
              <a:gd name="adj" fmla="val 10862"/>
            </a:avLst>
          </a:prstGeom>
          <a:solidFill>
            <a:srgbClr val="EEF8F2"/>
          </a:solidFill>
          <a:ln w="10160">
            <a:solidFill>
              <a:srgbClr val="DD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2960" y="396849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17312A"/>
                </a:solidFill>
              </a:rPr>
              <a:t>Monthly Release Summary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440740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7C3AED"/>
                </a:solidFill>
              </a:rPr>
              <a:t>Released transactions: 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4901184"/>
            <a:ext cx="4434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44054"/>
                </a:solidFill>
              </a:rPr>
              <a:t>Review sample-out records for complete requester, approver, and purpose details.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DCFED253-473F-5106-E884-C29F09477C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47" t="19422" r="66397" b="29249"/>
          <a:stretch>
            <a:fillRect/>
          </a:stretch>
        </p:blipFill>
        <p:spPr>
          <a:xfrm>
            <a:off x="49934" y="6465222"/>
            <a:ext cx="279251" cy="3721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763</Words>
  <Application>Microsoft Office PowerPoint</Application>
  <PresentationFormat>Widescreen</PresentationFormat>
  <Paragraphs>186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Fernando Cartas Jr</cp:lastModifiedBy>
  <cp:revision>2</cp:revision>
  <dcterms:created xsi:type="dcterms:W3CDTF">2013-01-27T09:14:16Z</dcterms:created>
  <dcterms:modified xsi:type="dcterms:W3CDTF">2026-05-08T06:55:49Z</dcterms:modified>
  <cp:category/>
</cp:coreProperties>
</file>